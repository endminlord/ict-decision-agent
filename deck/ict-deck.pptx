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14173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第十一届华为 ICT 大赛 · 中国创新赛 · 赛题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让每条决策依据
都能回查原文出处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931920"/>
            <a:ext cx="2011680" cy="45720"/>
          </a:xfrm>
          <a:prstGeom prst="rect">
            <a:avLst/>
          </a:prstGeom>
          <a:solidFill>
            <a:srgbClr val="C77D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4224528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基于 ModelEngine Nexent 打造可进化决策智能体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8064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政务公开语料 757,810 条 · 本体三层已实现 · 换行业零改码（已实测）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问题：决策依据散在数十万份文件里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人工梳理「谁引用了谁」不可行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757,810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条政务公开记录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覆盖法规、规章、公文、媒体报道等多类来源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15.7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亿字符正文（4.18 GB）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清洗后 692,698 条，切分为 1,864,451 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32918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8346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跨层级引用关系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27248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省级条例 → 国家文件 → 市级落实，链条长且分散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4617720"/>
            <a:ext cx="11000232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983480"/>
            <a:ext cx="106070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真正的难点不是「检索不到」，而是检索到之后无法确认依据是否成立：
哪一条是上位文件？哪一条只是正文里提到了文件名？哪一条已经被废止？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我们的答案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2 套自建 MCP + 2 个自建 Skill + 本体三层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nexent-call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572768"/>
            <a:ext cx="6035040" cy="431074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92440" y="178308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11896" y="169164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宿主侧自建 2 套 MCP（6 个工具），经 Nexent MCP 网关注册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274320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11896" y="265176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2 个自建 Skill 定义编排流程与拒答闸门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370332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11896" y="361188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本体三层：规则层召回 → 推理层连链 → 模型判定层判真假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466344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4572000"/>
            <a:ext cx="330098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回答逐条给出 chunk_id，可回原文核对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它做对了什么：跨层级链条一次答出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每条依据都带可回查的出处锚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09-ui-qa-cross-d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6858000" cy="437335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726679" y="173736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46136" y="164592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链条：河北省条例 2017 → 国办函〔2018〕46 号 → 国办函〔2019〕89 号 → 常州钟楼区人大决定 2020 → 国办发〔2022〕35 号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278892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46136" y="269748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耗时 73.44 s，答案含引用块清单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26679" y="3840479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46136" y="3749039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每条引用均带 chunk_id，可回原文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4892040"/>
            <a:ext cx="82296" cy="82296"/>
          </a:xfrm>
          <a:prstGeom prst="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46136" y="4800600"/>
            <a:ext cx="3666744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自述证据边界，不外推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它什么时候不说：拒答闸门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证据不足时明确拒答，而不是编造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5" name="Picture 4" descr="10-ui-qa-insuffici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6309360" cy="4206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178040" y="1600200"/>
            <a:ext cx="2572207" cy="42062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42048" y="1650492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判定项</a:t>
            </a:r>
          </a:p>
        </p:txBody>
      </p:sp>
      <p:sp>
        <p:nvSpPr>
          <p:cNvPr id="8" name="Rectangle 7"/>
          <p:cNvSpPr/>
          <p:nvPr/>
        </p:nvSpPr>
        <p:spPr>
          <a:xfrm>
            <a:off x="9750247" y="1600200"/>
            <a:ext cx="1862632" cy="420624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14255" y="1650492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78040" y="2020824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42048" y="2071116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insufficient_evidence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50247" y="2020824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14255" y="2071116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true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2491740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max_score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14255" y="2491740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0.7349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78040" y="2862072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42048" y="2912364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阈值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750247" y="2862072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14255" y="2912364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0.75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42048" y="3332988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grounded_rings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14255" y="3332988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78040" y="3703320"/>
            <a:ext cx="2572207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42048" y="3753611"/>
            <a:ext cx="2444191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系统动作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750247" y="3703320"/>
            <a:ext cx="1862632" cy="42062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14255" y="3753611"/>
            <a:ext cx="173461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拒答 + 给可改问方向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78040" y="4480560"/>
            <a:ext cx="4434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A33A2A"/>
                </a:solidFill>
                <a:latin typeface="微软雅黑"/>
                <a:ea typeface="微软雅黑"/>
                <a:cs typeface="微软雅黑"/>
              </a:rPr>
              <a:t>问「量子计算芯片的光刻胶配方工艺参数」→
回答「语料库中没有找到足够依据」。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编排深度：2 套 MCP（6 工具）+ 2 个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工具与流程都由本项目自建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54480"/>
            <a:ext cx="880018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04772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1474378" y="1554480"/>
            <a:ext cx="242005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38386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名称</a:t>
            </a:r>
          </a:p>
        </p:txBody>
      </p:sp>
      <p:sp>
        <p:nvSpPr>
          <p:cNvPr id="9" name="Rectangle 8"/>
          <p:cNvSpPr/>
          <p:nvPr/>
        </p:nvSpPr>
        <p:spPr>
          <a:xfrm>
            <a:off x="3894429" y="1554480"/>
            <a:ext cx="528011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58437" y="1604772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能力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74540" y="1554480"/>
            <a:ext cx="2420051" cy="56692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38548" y="1604772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121408"/>
            <a:ext cx="880018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71700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74378" y="2121408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38386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工作台 MCP（:8793）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4429" y="2121408"/>
            <a:ext cx="528011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8437" y="2171700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workbench_task_status / workbench_recent_commits / workbench_run_demo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74540" y="2121408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38548" y="2171700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真实调用成功，rc=0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2738628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38386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检索 MCP（:8793）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58437" y="2738628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retrieval_cross_doc / retrieval_trace_source / retrieval_corpus_stats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8548" y="2738628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跨文档检索 + 逐环回查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3255264"/>
            <a:ext cx="880018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05556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4378" y="3255264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38386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workbench-status-report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894429" y="3255264"/>
            <a:ext cx="528011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58437" y="3305556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生成工作台状态简报（4 次工具调用）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74540" y="3255264"/>
            <a:ext cx="2420051" cy="56692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8548" y="3305556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13.81 s / 真实调用 3 个工具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3872483"/>
            <a:ext cx="75200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38386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governance-policy-trace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58437" y="3872483"/>
            <a:ext cx="515209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政策溯源：检索 → 拒答闸门 → 逐环回查 → 成文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8548" y="3872483"/>
            <a:ext cx="2292035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50.43 s / 5 条 chunk_id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4526280"/>
            <a:ext cx="110002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端到端实测：智能体 17 次工具调用 / 54.3 s / 答案 7,525 字符；技能驱动的文件闭环写 43 字节并读回一致。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本体三层：已实现，不是设计稿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规则层召回 → 推理层连链 → 模型判定层判真假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规则层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行业词表驱动的三元组抽取
+ 规范名归并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247,746 条三元组
出处失败 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995928" y="3246120"/>
            <a:ext cx="502920" cy="274320"/>
          </a:xfrm>
          <a:prstGeom prst="rightArrow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98848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8848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推理层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引用类谓词连成有向图
+ 有界传递闭包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强证据层 2,855 节点 / 7,085 边
（含候选层 14,035 / 148,005）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808975" y="3246120"/>
            <a:ext cx="502920" cy="274320"/>
          </a:xfrm>
          <a:prstGeom prst="rightArrow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11896" y="1965960"/>
            <a:ext cx="3246120" cy="2788920"/>
          </a:xfrm>
          <a:prstGeom prst="round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11896" y="1965960"/>
            <a:ext cx="3246120" cy="82296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0496" y="2212848"/>
            <a:ext cx="2788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模型判定层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40496" y="2761488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LLM 逐条判定候选是否为真文件
（零温度 + 缓存 + 入库校验）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0496" y="3913632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subject 1,762 真文件
object 6,890 真文件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74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人工闸门兜底：schema.json 的 review_gate 规定只有 high 置信度可自动入库，medium/low 须人工确认（本轮 0 条入库）。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规则层与推理层：抽了多少、连了多深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60,000 块语料 → 24.8 万条三元组 → 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247,746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条三元组（出处失败 0）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来自 60,000 块政务语料 · 强证据层 2.1 万条可自动入库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73736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132,883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377439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个规范实体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670048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Document 121,100 / Organization 11,652 等 5 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737360"/>
            <a:ext cx="35661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C77D0A"/>
                </a:solidFill>
                <a:latin typeface="微软雅黑"/>
                <a:ea typeface="微软雅黑"/>
                <a:cs typeface="微软雅黑"/>
              </a:rPr>
              <a:t>7,085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77439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条引用边 / 2,855 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26700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强证据层；含候选层时 148,005 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谓词分布（前 5 / 共 8 类，全量口径）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777240" y="4133087"/>
            <a:ext cx="4965192" cy="2130553"/>
            <a:chOff x="777240" y="4133087"/>
            <a:chExt cx="4965192" cy="2130553"/>
          </a:xfrm>
        </p:grpSpPr>
        <p:sp>
          <p:nvSpPr>
            <p:cNvPr id="16" name="Rounded Rectangle 15"/>
            <p:cNvSpPr/>
            <p:nvPr/>
          </p:nvSpPr>
          <p:spPr>
            <a:xfrm>
              <a:off x="1600200" y="41605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1600200" y="4160520"/>
              <a:ext cx="3520440" cy="274320"/>
            </a:xfrm>
            <a:prstGeom prst="roundRect">
              <a:avLst/>
            </a:prstGeom>
            <a:solidFill>
              <a:srgbClr val="1E5A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77240" y="4133087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cites 引用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5193792" y="4133087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178,099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1600200" y="46177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1600200" y="4617720"/>
              <a:ext cx="554655" cy="274320"/>
            </a:xfrm>
            <a:prstGeom prst="roundRect">
              <a:avLst/>
            </a:prstGeom>
            <a:solidFill>
              <a:srgbClr val="0096C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77240" y="45902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issued_by 发布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5193792" y="45902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28,060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1600200" y="50749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1600200" y="5074920"/>
              <a:ext cx="295770" cy="274320"/>
            </a:xfrm>
            <a:prstGeom prst="roundRect">
              <a:avLst/>
            </a:prstGeom>
            <a:solidFill>
              <a:srgbClr val="6B7B8D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777240" y="50474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implements 实施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5193792" y="50474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14,963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1600200" y="55321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1600200" y="5532120"/>
              <a:ext cx="187191" cy="274320"/>
            </a:xfrm>
            <a:prstGeom prst="roundRect">
              <a:avLst/>
            </a:prstGeom>
            <a:solidFill>
              <a:srgbClr val="C8E6C9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777240" y="55046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mentions 提及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193792" y="55046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9,470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1600200" y="5989320"/>
              <a:ext cx="3520440" cy="274320"/>
            </a:xfrm>
            <a:prstGeom prst="roundRect">
              <a:avLst/>
            </a:prstGeom>
            <a:solidFill>
              <a:srgbClr val="F0F4F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1600200" y="5989320"/>
              <a:ext cx="163530" cy="274320"/>
            </a:xfrm>
            <a:prstGeom prst="roundRect">
              <a:avLst/>
            </a:prstGeom>
            <a:solidFill>
              <a:srgbClr val="1E5AB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777240" y="5961888"/>
              <a:ext cx="7772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pPr algn="r"/>
              <a:r>
                <a:rPr sz="1000" b="0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amends 修订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5193792" y="5961888"/>
              <a:ext cx="548640" cy="274320"/>
            </a:xfrm>
            <a:prstGeom prst="rect">
              <a:avLst/>
            </a:prstGeom>
            <a:noFill/>
          </p:spPr>
          <p:txBody>
            <a:bodyPr wrap="none">
              <a:spAutoFit/>
            </a:bodyPr>
            <a:lstStyle/>
            <a:p>
              <a:r>
                <a:rPr sz="1000" b="1">
                  <a:solidFill>
                    <a:srgbClr val="0A1E3D"/>
                  </a:solidFill>
                  <a:latin typeface="微软雅黑"/>
                  <a:ea typeface="微软雅黑"/>
                  <a:cs typeface="微软雅黑"/>
                </a:rPr>
                <a:t>8,273</a:t>
              </a:r>
            </a:p>
          </p:txBody>
        </p:sp>
      </p:grpSp>
      <p:sp>
        <p:nvSpPr>
          <p:cNvPr id="36" name="TextBox 35"/>
          <p:cNvSpPr txBox="1"/>
          <p:nvPr/>
        </p:nvSpPr>
        <p:spPr>
          <a:xfrm>
            <a:off x="6355080" y="3931920"/>
            <a:ext cx="5212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推理层做了什么：
· 只取 4 类引用谓词（cites / implements / amends / repeals），排除 mentions 噪声
· 节点名规范化后去重、去自环
· 有界传递闭包（最大 4 跳），判据 R1–R4 全过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模型判定层：把「正文提到」与「真引用」分开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双侧过滤后才敢说这是文件→文件引用图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83080"/>
            <a:ext cx="10424160" cy="731520"/>
          </a:xfrm>
          <a:prstGeom prst="round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01952"/>
            <a:ext cx="9966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 45,992 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221991"/>
            <a:ext cx="9966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14,058 + object 31,934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52344"/>
            <a:ext cx="7863840" cy="731520"/>
          </a:xfrm>
          <a:prstGeom prst="roundRect">
            <a:avLst/>
          </a:prstGeom>
          <a:solidFill>
            <a:srgbClr val="0096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871215"/>
            <a:ext cx="7406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判为真文件 8,652 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191256"/>
            <a:ext cx="7406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subject 1,762（12.5%）· object 6,890（21.6%）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21608"/>
            <a:ext cx="5303520" cy="731520"/>
          </a:xfrm>
          <a:prstGeom prst="roundRect">
            <a:avLst/>
          </a:prstGeom>
          <a:solidFill>
            <a:srgbClr val="1F7A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40480"/>
            <a:ext cx="4846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双侧都清 → 15,870 条边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160520"/>
            <a:ext cx="48463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8,532 个节点 · 文件图 1,661 节点 / 9,167 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846320"/>
            <a:ext cx="10881360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7492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一处必须写明的修正：早期用「各 400 个候选」抽样得出「双侧都清 0 条边」，并据此推断「政务文件之间的引用链很稀疏」。
全量判定后发现那是抽样错在层 —— 400 个 subject 候选里只有 6 个是真文件。真实数字是 15,870 条。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换行业会怎样：零改码迁移（已实测）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政务 → 先进制造，四项指标全部达标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00200"/>
            <a:ext cx="2860060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50492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7" name="Rectangle 6"/>
          <p:cNvSpPr/>
          <p:nvPr/>
        </p:nvSpPr>
        <p:spPr>
          <a:xfrm>
            <a:off x="3454420" y="1600200"/>
            <a:ext cx="1760037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18428" y="1650492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4457" y="1600200"/>
            <a:ext cx="6380134" cy="47548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78465" y="1650492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075688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125980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L1 改动（MCP 服务）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54420" y="2075688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8428" y="2125980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14457" y="2075688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8465" y="2125980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mcp/workbench-mcp-server.py 逐字节未变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601468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L2 改动（Skill）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18428" y="2601468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8465" y="2601468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skills/*/SKILL.md 逐字节未变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3026664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076956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L3 改动（本体）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54420" y="3026664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8428" y="3076956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0 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14457" y="3026664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78465" y="3076956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schema.json 与 build.py sha256 与基线一致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552444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脚本复用率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18428" y="3552444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 / 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78465" y="3552444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生成 → 抽取 → 归并 → 推理 全链路复用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977639"/>
            <a:ext cx="2860060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4027931"/>
            <a:ext cx="2732044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迁移工时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54420" y="3977639"/>
            <a:ext cx="1760037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18428" y="4027931"/>
            <a:ext cx="163202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约 8 分钟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14457" y="3977639"/>
            <a:ext cx="6380134" cy="47548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78465" y="4027931"/>
            <a:ext cx="6252118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含合成语料编写；全链路执行 &lt; 1 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4709160"/>
            <a:ext cx="1100023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关键读数：同一批 25 块语料只换词表 —— 制造词表抽出 50 条三元组，政务词表只抽 22 条（差 2.3 倍）。
结论：换行业必须换词表，而且只需要换词表。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能力沉淀：每条结论都能复跑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不是一次性 demo —— 判据与命令都在材料包里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572768"/>
            <a:ext cx="4400092" cy="38404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623060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判据类别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4994452" y="1572768"/>
            <a:ext cx="2640055" cy="38404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58460" y="1623060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9" name="Rectangle 8"/>
          <p:cNvSpPr/>
          <p:nvPr/>
        </p:nvSpPr>
        <p:spPr>
          <a:xfrm>
            <a:off x="7634508" y="1572768"/>
            <a:ext cx="3960083" cy="384048"/>
          </a:xfrm>
          <a:prstGeom prst="rect">
            <a:avLst/>
          </a:prstGeom>
          <a:solidFill>
            <a:srgbClr val="1E5A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98516" y="1623060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复跑入口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956816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007108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契约一致性（MCP ↔ Skill ↔ 文档）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94452" y="1956816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8460" y="2007108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 通过 / 0 失败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4508" y="1956816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98516" y="2007108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tools/check-contract-doc.py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391156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契约负对照自测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8460" y="2391156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6 /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98516" y="2391156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同上 --self-test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" y="2724912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2775204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本体三层自测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94452" y="2724912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58460" y="2775204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12/12 · 4/4 · 6/6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4508" y="2724912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98516" y="2775204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ontology/{build,align,prune}.py --self-test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159252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语料链自测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58460" y="3159252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5/5 · 5/5 · 5/5 · 3/3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8516" y="3159252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tools/corpus-clean|chunk|select-subset|import-corpus.py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3493008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543300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检索效果评测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94452" y="3493008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58460" y="3543300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政务 10/10 · RFC 15/15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4508" y="3493008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98516" y="3543300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tools/eval-retrieval.py --domain gov|rfc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927348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引用回查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58460" y="3927348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96 条判据全过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98516" y="3927348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track2-mcp/tests/（见复核命令 X 段）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" y="4261104"/>
            <a:ext cx="4400092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" y="4311396"/>
            <a:ext cx="4272076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全包完整性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94452" y="4261104"/>
            <a:ext cx="2640055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58460" y="4311396"/>
            <a:ext cx="2512039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全部 OK（可逐条复跑）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634508" y="4261104"/>
            <a:ext cx="3960083" cy="384048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98516" y="4311396"/>
            <a:ext cx="3832067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sha256sum -c MANIFEST.sha256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" y="4709160"/>
            <a:ext cx="110002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复核命令.md 的 A–Y 段给出每条结论对应的单条命令与预期输出，评审可逐条验证。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416051"/>
            <a:ext cx="110029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诚实边界与下一步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73252"/>
            <a:ext cx="11002975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哪些还没做、为什么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147572"/>
            <a:ext cx="11002975" cy="13716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691640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本材料为单人备赛产出：团队成员、指导教师、队名与报名编号尚未确定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2624328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官方参数未确认：初赛确切截止日、晋级名额、是否强制华为技术栈、是否需 PPT/视频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3557016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先进制造语料通道断链：国标全文受版权、gov.cn 政策 API 匿名 0 结果、ModelScope 403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4489704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迁移实测用的是合成语料 —— 验证的是机制，不是真实行业效果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600200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判定层用的是自备网关的外部模型，换模型结论可能变；强证据层 21,036 条自动入库，候选层 226,710 条零人工确认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2624328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2532888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GPU 已落地到现役 embedding 服务（端到端 387 条/秒 = 26.9×；纯推理 635 条/秒 = 44×），但显存压力与多并发行为未测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557016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3465576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示例 7 的原始长问题复现不稳定（两次失败），材料中使用的是简化提问版本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489704"/>
            <a:ext cx="82296" cy="82296"/>
          </a:xfrm>
          <a:prstGeom prst="rect">
            <a:avLst/>
          </a:prstGeom>
          <a:solidFill>
            <a:srgbClr val="A33A2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3096" y="4398264"/>
            <a:ext cx="5129783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知识库全量导入按 batch 200 实测约 15.8 小时（1,864,451 块），但要占满写入窗口，故采用 15,494 块分层子集策略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5440680"/>
            <a:ext cx="11000232" cy="18288"/>
          </a:xfrm>
          <a:prstGeom prst="rect">
            <a:avLst/>
          </a:prstGeom>
          <a:solidFill>
            <a:srgbClr val="DEE5E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5650992"/>
            <a:ext cx="110002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0A1E3D"/>
                </a:solidFill>
                <a:latin typeface="微软雅黑"/>
                <a:ea typeface="微软雅黑"/>
                <a:cs typeface="微软雅黑"/>
              </a:rPr>
              <a:t>下一步：知识库定全量筛选策略（15,494 块子集已入库）→ 人工确认闸门入库 → 第二行业真实语料迁移。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00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B8D"/>
                </a:solidFill>
                <a:latin typeface="微软雅黑"/>
                <a:ea typeface="微软雅黑"/>
                <a:cs typeface="微软雅黑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