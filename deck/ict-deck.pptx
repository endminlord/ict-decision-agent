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417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第十一届华为 ICT 大赛 · 中国创新赛 · 赛题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96596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让每条决策依据
都能回查原文出处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931920"/>
            <a:ext cx="2011680" cy="45720"/>
          </a:xfrm>
          <a:prstGeom prst="rect">
            <a:avLst/>
          </a:prstGeom>
          <a:solidFill>
            <a:srgbClr val="8A62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422452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基于 ModelEngine Nexent 打造可进化决策智能体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5806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政务公开语料 757,810 条 · 本体三层已实现 · 换行业零改码（已实测）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问题：决策依据散在数十万份文件里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人工梳理「谁引用了谁」不可行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8A6234"/>
                </a:solidFill>
                <a:latin typeface="微软雅黑"/>
                <a:ea typeface="微软雅黑"/>
                <a:cs typeface="微软雅黑"/>
              </a:rPr>
              <a:t>757,810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346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条政务公开记录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2724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覆盖法规、规章、公文、媒体报道等多类来源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219456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8A6234"/>
                </a:solidFill>
                <a:latin typeface="微软雅黑"/>
                <a:ea typeface="微软雅黑"/>
                <a:cs typeface="微软雅黑"/>
              </a:rPr>
              <a:t>15.7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8346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亿字符正文（4.18 GB）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12724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清洗后 692,698 条，切分为 1,864,451 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2194560"/>
            <a:ext cx="32918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8A6234"/>
                </a:solidFill>
                <a:latin typeface="微软雅黑"/>
                <a:ea typeface="微软雅黑"/>
                <a:cs typeface="微软雅黑"/>
              </a:rPr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83463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跨层级引用关系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12724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省级条例 → 国家文件 → 市级落实，链条长且分散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617720"/>
            <a:ext cx="11000232" cy="18288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真正的难点不是「检索不到」，而是检索到之后无法确认依据是否成立：
哪一条是上位文件？哪一条只是正文里提到了文件名？哪一条已经被废止？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我们的答案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2 套自建 MCP + 2 个自建 Skill + 本体三层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92440" y="1783080"/>
            <a:ext cx="82296" cy="82296"/>
          </a:xfrm>
          <a:prstGeom prst="rect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11896" y="1691640"/>
            <a:ext cx="3300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宿主侧自建 2 套 MCP（6 个工具），经 Nexent MCP 网关注册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2440" y="2743200"/>
            <a:ext cx="82296" cy="82296"/>
          </a:xfrm>
          <a:prstGeom prst="rect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11896" y="2651760"/>
            <a:ext cx="3300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2 个自建 Skill 定义编排流程与拒答闸门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3703320"/>
            <a:ext cx="82296" cy="82296"/>
          </a:xfrm>
          <a:prstGeom prst="rect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11896" y="3611880"/>
            <a:ext cx="3300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本体三层：规则层召回 → 推理层连链 → 模型判定层判真假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4663440"/>
            <a:ext cx="82296" cy="82296"/>
          </a:xfrm>
          <a:prstGeom prst="rect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1896" y="4572000"/>
            <a:ext cx="330098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回答逐条给出 chunk_id，可回原文核对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3 /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59" y="1508760"/>
            <a:ext cx="6126479" cy="4389120"/>
          </a:xfrm>
          <a:prstGeom prst="rect">
            <a:avLst/>
          </a:prstGeom>
          <a:noFill/>
          <a:ln w="15875">
            <a:solidFill>
              <a:srgbClr val="9B7247"/>
            </a:solidFill>
          </a:ln>
        </p:spPr>
        <p:txBody>
          <a:bodyPr wrap="none">
            <a:spAutoFit/>
          </a:bodyPr>
          <a:lstStyle/>
          <a:p/>
        </p:txBody>
      </p:sp>
      <p:pic>
        <p:nvPicPr>
          <p:cNvPr id="16" name="Picture 15" descr="ppt-p3-callgraph-editor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6766560" cy="42976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360" y="1508760"/>
            <a:ext cx="6858000" cy="4389120"/>
          </a:xfrm>
          <a:prstGeom prst="rect">
            <a:avLst/>
          </a:prstGeom>
          <a:noFill/>
          <a:ln w="15875">
            <a:solidFill>
              <a:srgbClr val="9B7247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5888736"/>
            <a:ext cx="6766560" cy="256032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wrap="none" lIns="73152" tIns="18288">
            <a:spAutoFit/>
          </a:bodyPr>
          <a:lstStyle/>
          <a:p>
            <a:r>
              <a:rPr sz="850">
                <a:solidFill>
                  <a:srgbClr val="6E675F"/>
                </a:solidFill>
                <a:latin typeface="微软雅黑"/>
              </a:rPr>
              <a:t>治理控制台 · 调用关系全图 · 自绘图版（编辑风格）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它做对了什么：跨层级链条一次答出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每条依据都带可回查的出处锚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26679" y="1737360"/>
            <a:ext cx="82296" cy="82296"/>
          </a:xfrm>
          <a:prstGeom prst="rect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46136" y="1645920"/>
            <a:ext cx="3666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链条：河北省条例 2017 → 国办函〔2018〕46 号 → 国办函〔2019〕89 号 → 常州钟楼区人大决定 2020 → 国办发〔2022〕35 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2788920"/>
            <a:ext cx="82296" cy="82296"/>
          </a:xfrm>
          <a:prstGeom prst="rect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46136" y="2697480"/>
            <a:ext cx="3666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耗时 73.44 s，答案含引用块清单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26679" y="3840479"/>
            <a:ext cx="82296" cy="82296"/>
          </a:xfrm>
          <a:prstGeom prst="rect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46136" y="3749039"/>
            <a:ext cx="3666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每条引用均带 chunk_id，可回原文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4892040"/>
            <a:ext cx="82296" cy="82296"/>
          </a:xfrm>
          <a:prstGeom prst="rect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46136" y="4800600"/>
            <a:ext cx="36667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自述证据边界，不外推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4 / 13</a:t>
            </a:r>
          </a:p>
        </p:txBody>
      </p:sp>
      <p:pic>
        <p:nvPicPr>
          <p:cNvPr id="15" name="Picture 14" descr="p4-chain-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6858000" cy="41605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4360" y="1417320"/>
            <a:ext cx="6949440" cy="4251960"/>
          </a:xfrm>
          <a:prstGeom prst="rect">
            <a:avLst/>
          </a:prstGeom>
          <a:noFill/>
          <a:ln w="15875">
            <a:solidFill>
              <a:srgbClr val="9B7247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6858000" cy="256032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wrap="none" lIns="73152" tIns="18288">
            <a:spAutoFit/>
          </a:bodyPr>
          <a:lstStyle/>
          <a:p>
            <a:r>
              <a:rPr sz="850">
                <a:solidFill>
                  <a:srgbClr val="6E675F"/>
                </a:solidFill>
                <a:latin typeface="微软雅黑"/>
              </a:rPr>
              <a:t>生产通路实拍 · 平台原生界面 · 跨层级链条引用块（河北省条例 2017→国办发〔2022〕35 号）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它什么时候不说：拒答闸门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证据不足时明确拒答，而不是编造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10-ui-qa-insuffic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63040"/>
            <a:ext cx="6309360" cy="4206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178040" y="1600200"/>
            <a:ext cx="2572207" cy="420624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42048" y="1650492"/>
            <a:ext cx="24441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判定项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0247" y="1600200"/>
            <a:ext cx="1862632" cy="420624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14255" y="1650492"/>
            <a:ext cx="1734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2020824"/>
            <a:ext cx="2572207" cy="420624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42048" y="2071116"/>
            <a:ext cx="24441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insufficient_evidence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50247" y="2020824"/>
            <a:ext cx="1862632" cy="420624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14255" y="2071116"/>
            <a:ext cx="1734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2491740"/>
            <a:ext cx="24441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max_score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4255" y="2491740"/>
            <a:ext cx="1734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0.7349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2862072"/>
            <a:ext cx="2572207" cy="420624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2912364"/>
            <a:ext cx="24441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阈值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50247" y="2862072"/>
            <a:ext cx="1862632" cy="420624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14255" y="2912364"/>
            <a:ext cx="1734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0.75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3332988"/>
            <a:ext cx="24441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grounded_rings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4255" y="3332988"/>
            <a:ext cx="1734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3703320"/>
            <a:ext cx="2572207" cy="420624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2048" y="3753611"/>
            <a:ext cx="244419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系统动作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50247" y="3703320"/>
            <a:ext cx="1862632" cy="420624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14255" y="3753611"/>
            <a:ext cx="1734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拒答 + 给可改问方向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480560"/>
            <a:ext cx="4434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9E4A2B"/>
                </a:solidFill>
                <a:latin typeface="微软雅黑"/>
                <a:ea typeface="微软雅黑"/>
                <a:cs typeface="微软雅黑"/>
              </a:rPr>
              <a:t>问「量子计算芯片的光刻胶配方工艺参数」→
回答「语料库中没有找到足够依据」。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5 / 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59" y="1417320"/>
            <a:ext cx="6400800" cy="4297679"/>
          </a:xfrm>
          <a:prstGeom prst="rect">
            <a:avLst/>
          </a:prstGeom>
          <a:noFill/>
          <a:ln w="15875">
            <a:solidFill>
              <a:srgbClr val="9B7247"/>
            </a:solidFill>
          </a:ln>
        </p:spPr>
        <p:txBody>
          <a:bodyPr wrap="none">
            <a:spAutoFit/>
          </a:bodyPr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0080" y="5714999"/>
            <a:ext cx="6309360" cy="256032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wrap="none" lIns="73152" tIns="18288">
            <a:spAutoFit/>
          </a:bodyPr>
          <a:lstStyle/>
          <a:p>
            <a:r>
              <a:rPr sz="850">
                <a:solidFill>
                  <a:srgbClr val="6E675F"/>
                </a:solidFill>
                <a:latin typeface="微软雅黑"/>
              </a:rPr>
              <a:t>生产通路实拍 · 平台原生界面（拒答证据）· 未修饰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编排深度：2 套 MCP（6 工具）+ 2 个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工具与流程都由本项目自建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880018" cy="566928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4772"/>
            <a:ext cx="75200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1474378" y="1554480"/>
            <a:ext cx="2420051" cy="566928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8386" y="1604772"/>
            <a:ext cx="229203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名称</a:t>
            </a:r>
          </a:p>
        </p:txBody>
      </p:sp>
      <p:sp>
        <p:nvSpPr>
          <p:cNvPr id="9" name="Rectangle 8"/>
          <p:cNvSpPr/>
          <p:nvPr/>
        </p:nvSpPr>
        <p:spPr>
          <a:xfrm>
            <a:off x="3894429" y="1554480"/>
            <a:ext cx="5280111" cy="566928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58437" y="1604772"/>
            <a:ext cx="515209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74540" y="1554480"/>
            <a:ext cx="2420051" cy="566928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8548" y="1604772"/>
            <a:ext cx="229203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121408"/>
            <a:ext cx="880018" cy="56692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71700"/>
            <a:ext cx="75200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MCP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4378" y="2121408"/>
            <a:ext cx="2420051" cy="56692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8386" y="2171700"/>
            <a:ext cx="229203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工作台 MCP（:8793）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94429" y="2121408"/>
            <a:ext cx="5280111" cy="56692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8437" y="2171700"/>
            <a:ext cx="515209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workbench_task_status / workbench_recent_commits / workbench_run_demo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74540" y="2121408"/>
            <a:ext cx="2420051" cy="56692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8548" y="2171700"/>
            <a:ext cx="229203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真实调用成功，rc=0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738628"/>
            <a:ext cx="75200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8386" y="2738628"/>
            <a:ext cx="229203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检索 MCP（:8793）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8437" y="2738628"/>
            <a:ext cx="515209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retrieval_cross_doc / retrieval_trace_source / retrieval_corpus_stats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8548" y="2738628"/>
            <a:ext cx="229203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跨文档检索 + 逐环回查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255264"/>
            <a:ext cx="880018" cy="56692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305556"/>
            <a:ext cx="75200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74378" y="3255264"/>
            <a:ext cx="2420051" cy="56692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38386" y="3305556"/>
            <a:ext cx="229203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workbench-status-report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94429" y="3255264"/>
            <a:ext cx="5280111" cy="56692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58437" y="3305556"/>
            <a:ext cx="515209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生成工作台状态简报（4 次工具调用）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74540" y="3255264"/>
            <a:ext cx="2420051" cy="56692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8548" y="3305556"/>
            <a:ext cx="229203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13.81 s / 真实调用 3 个工具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3872483"/>
            <a:ext cx="752002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38386" y="3872483"/>
            <a:ext cx="229203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governance-policy-trace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8437" y="3872483"/>
            <a:ext cx="515209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政策溯源：检索 → 拒答闸门 → 逐环回查 → 成文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8548" y="3872483"/>
            <a:ext cx="2292035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50.43 s / 5 条 chunk_id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526280"/>
            <a:ext cx="110002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端到端实测：智能体 17 次工具调用 / 54.3 s / 答案 7,525 字符；技能驱动的文件闭环写 43 字节并读回一致。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本体三层：已实现，不是设计稿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规则层召回 → 推理层连链 → 模型判定层判真假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246120" cy="2788920"/>
          </a:xfrm>
          <a:prstGeom prst="round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3246120" cy="82296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规则层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61488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行业词表驱动的三元组抽取
+ 规范名归并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136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A6234"/>
                </a:solidFill>
                <a:latin typeface="微软雅黑"/>
                <a:ea typeface="微软雅黑"/>
                <a:cs typeface="微软雅黑"/>
              </a:rPr>
              <a:t>247,746 条三元组
出处失败 0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995928" y="3246120"/>
            <a:ext cx="502920" cy="274320"/>
          </a:xfrm>
          <a:prstGeom prst="rightArrow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98848" y="1965960"/>
            <a:ext cx="3246120" cy="2788920"/>
          </a:xfrm>
          <a:prstGeom prst="round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98848" y="1965960"/>
            <a:ext cx="3246120" cy="82296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7448" y="221284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推理层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761488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引用类谓词连成有向图
+ 有界传递闭包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9136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A6234"/>
                </a:solidFill>
                <a:latin typeface="微软雅黑"/>
                <a:ea typeface="微软雅黑"/>
                <a:cs typeface="微软雅黑"/>
              </a:rPr>
              <a:t>强证据层 2,855 节点 / 7,085 边
（含候选层 14,035 / 148,005）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08975" y="3246120"/>
            <a:ext cx="502920" cy="274320"/>
          </a:xfrm>
          <a:prstGeom prst="rightArrow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11896" y="1965960"/>
            <a:ext cx="3246120" cy="2788920"/>
          </a:xfrm>
          <a:prstGeom prst="round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11896" y="1965960"/>
            <a:ext cx="3246120" cy="82296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0496" y="2212848"/>
            <a:ext cx="2788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模型判定层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6" y="2761488"/>
            <a:ext cx="2788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LLM 逐条判定候选是否为真文件
（零温度 + 缓存 + 入库校验）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0496" y="3913632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8A6234"/>
                </a:solidFill>
                <a:latin typeface="微软雅黑"/>
                <a:ea typeface="微软雅黑"/>
                <a:cs typeface="微软雅黑"/>
              </a:rPr>
              <a:t>subject 1,762 真文件
object 6,890 真文件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07492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人工闸门兜底：schema.json 的 review_gate 规定只有 high 置信度可自动入库，medium/low 须人工确认（本轮 0 条入库）。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规则层与推理层：抽了多少、连了多深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60,000 块语料 → 24.8 万条三元组 → 引用图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6234"/>
                </a:solidFill>
                <a:latin typeface="微软雅黑"/>
                <a:ea typeface="微软雅黑"/>
                <a:cs typeface="微软雅黑"/>
              </a:rPr>
              <a:t>247,746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条三元组（出处失败 0）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700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来自 60,000 块政务语料 · 强证据层 2.1 万条可自动入库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737360"/>
            <a:ext cx="3200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6234"/>
                </a:solidFill>
                <a:latin typeface="微软雅黑"/>
                <a:ea typeface="微软雅黑"/>
                <a:cs typeface="微软雅黑"/>
              </a:rPr>
              <a:t>132,883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37743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个规范实体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670048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Document 121,100 / Organization 11,652 等 5 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737360"/>
            <a:ext cx="35661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6234"/>
                </a:solidFill>
                <a:latin typeface="微软雅黑"/>
                <a:ea typeface="微软雅黑"/>
                <a:cs typeface="微软雅黑"/>
              </a:rPr>
              <a:t>7,085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377439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条引用边 / 2,855 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67004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强证据层；含候选层时 148,005 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谓词分布（前 5 / 共 8 类，全量口径）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777240" y="4133087"/>
            <a:ext cx="4965192" cy="2130553"/>
            <a:chOff x="777240" y="4133087"/>
            <a:chExt cx="4965192" cy="2130553"/>
          </a:xfrm>
        </p:grpSpPr>
        <p:sp>
          <p:nvSpPr>
            <p:cNvPr id="16" name="Rounded Rectangle 15"/>
            <p:cNvSpPr/>
            <p:nvPr/>
          </p:nvSpPr>
          <p:spPr>
            <a:xfrm>
              <a:off x="1600200" y="4160520"/>
              <a:ext cx="3520440" cy="274320"/>
            </a:xfrm>
            <a:prstGeom prst="roundRect">
              <a:avLst/>
            </a:prstGeom>
            <a:solidFill>
              <a:srgbClr val="F7F4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600200" y="4160520"/>
              <a:ext cx="3520440" cy="274320"/>
            </a:xfrm>
            <a:prstGeom prst="roundRect">
              <a:avLst/>
            </a:prstGeom>
            <a:solidFill>
              <a:srgbClr val="9B72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77240" y="4133087"/>
              <a:ext cx="7772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000" b="0">
                  <a:solidFill>
                    <a:srgbClr val="080A08"/>
                  </a:solidFill>
                  <a:latin typeface="微软雅黑"/>
                  <a:ea typeface="微软雅黑"/>
                  <a:cs typeface="微软雅黑"/>
                </a:rPr>
                <a:t>cites 引用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193792" y="4133087"/>
              <a:ext cx="548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b="1">
                  <a:solidFill>
                    <a:srgbClr val="080A08"/>
                  </a:solidFill>
                  <a:latin typeface="微软雅黑"/>
                  <a:ea typeface="微软雅黑"/>
                  <a:cs typeface="微软雅黑"/>
                </a:rPr>
                <a:t>178,099</a:t>
              </a: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1600200" y="4617720"/>
              <a:ext cx="3520440" cy="274320"/>
            </a:xfrm>
            <a:prstGeom prst="roundRect">
              <a:avLst/>
            </a:prstGeom>
            <a:solidFill>
              <a:srgbClr val="F7F4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600200" y="4617720"/>
              <a:ext cx="554655" cy="274320"/>
            </a:xfrm>
            <a:prstGeom prst="roundRect">
              <a:avLst/>
            </a:prstGeom>
            <a:solidFill>
              <a:srgbClr val="C5A1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77240" y="4590288"/>
              <a:ext cx="7772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000" b="0">
                  <a:solidFill>
                    <a:srgbClr val="080A08"/>
                  </a:solidFill>
                  <a:latin typeface="微软雅黑"/>
                  <a:ea typeface="微软雅黑"/>
                  <a:cs typeface="微软雅黑"/>
                </a:rPr>
                <a:t>issued_by 发布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193792" y="4590288"/>
              <a:ext cx="548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b="1">
                  <a:solidFill>
                    <a:srgbClr val="080A08"/>
                  </a:solidFill>
                  <a:latin typeface="微软雅黑"/>
                  <a:ea typeface="微软雅黑"/>
                  <a:cs typeface="微软雅黑"/>
                </a:rPr>
                <a:t>28,060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600200" y="5074920"/>
              <a:ext cx="3520440" cy="274320"/>
            </a:xfrm>
            <a:prstGeom prst="roundRect">
              <a:avLst/>
            </a:prstGeom>
            <a:solidFill>
              <a:srgbClr val="F7F4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1600200" y="5074920"/>
              <a:ext cx="295770" cy="274320"/>
            </a:xfrm>
            <a:prstGeom prst="roundRect">
              <a:avLst/>
            </a:prstGeom>
            <a:solidFill>
              <a:srgbClr val="6E675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77240" y="5047488"/>
              <a:ext cx="7772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000" b="0">
                  <a:solidFill>
                    <a:srgbClr val="080A08"/>
                  </a:solidFill>
                  <a:latin typeface="微软雅黑"/>
                  <a:ea typeface="微软雅黑"/>
                  <a:cs typeface="微软雅黑"/>
                </a:rPr>
                <a:t>implements 实施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193792" y="5047488"/>
              <a:ext cx="548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b="1">
                  <a:solidFill>
                    <a:srgbClr val="080A08"/>
                  </a:solidFill>
                  <a:latin typeface="微软雅黑"/>
                  <a:ea typeface="微软雅黑"/>
                  <a:cs typeface="微软雅黑"/>
                </a:rPr>
                <a:t>14,963</a:t>
              </a:r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1600200" y="5532120"/>
              <a:ext cx="3520440" cy="274320"/>
            </a:xfrm>
            <a:prstGeom prst="roundRect">
              <a:avLst/>
            </a:prstGeom>
            <a:solidFill>
              <a:srgbClr val="F7F4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600200" y="5532120"/>
              <a:ext cx="187191" cy="274320"/>
            </a:xfrm>
            <a:prstGeom prst="roundRect">
              <a:avLst/>
            </a:prstGeom>
            <a:solidFill>
              <a:srgbClr val="E8DFC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77240" y="5504688"/>
              <a:ext cx="7772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000" b="0">
                  <a:solidFill>
                    <a:srgbClr val="080A08"/>
                  </a:solidFill>
                  <a:latin typeface="微软雅黑"/>
                  <a:ea typeface="微软雅黑"/>
                  <a:cs typeface="微软雅黑"/>
                </a:rPr>
                <a:t>mentions 提及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193792" y="5504688"/>
              <a:ext cx="548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b="1">
                  <a:solidFill>
                    <a:srgbClr val="080A08"/>
                  </a:solidFill>
                  <a:latin typeface="微软雅黑"/>
                  <a:ea typeface="微软雅黑"/>
                  <a:cs typeface="微软雅黑"/>
                </a:rPr>
                <a:t>9,470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600200" y="5989320"/>
              <a:ext cx="3520440" cy="274320"/>
            </a:xfrm>
            <a:prstGeom prst="roundRect">
              <a:avLst/>
            </a:prstGeom>
            <a:solidFill>
              <a:srgbClr val="F7F4E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1600200" y="5989320"/>
              <a:ext cx="163530" cy="274320"/>
            </a:xfrm>
            <a:prstGeom prst="roundRect">
              <a:avLst/>
            </a:prstGeom>
            <a:solidFill>
              <a:srgbClr val="9B7247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77240" y="5961888"/>
              <a:ext cx="7772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r"/>
              <a:r>
                <a:rPr sz="1000" b="0">
                  <a:solidFill>
                    <a:srgbClr val="080A08"/>
                  </a:solidFill>
                  <a:latin typeface="微软雅黑"/>
                  <a:ea typeface="微软雅黑"/>
                  <a:cs typeface="微软雅黑"/>
                </a:rPr>
                <a:t>amends 修订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193792" y="5961888"/>
              <a:ext cx="548640" cy="27432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 b="1">
                  <a:solidFill>
                    <a:srgbClr val="080A08"/>
                  </a:solidFill>
                  <a:latin typeface="微软雅黑"/>
                  <a:ea typeface="微软雅黑"/>
                  <a:cs typeface="微软雅黑"/>
                </a:rPr>
                <a:t>8,273</a:t>
              </a:r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6355080" y="39319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推理层做了什么：
· 只取 4 类引用谓词（cites / implements / amends / repeals），排除 mentions 噪声
· 节点名规范化后去重、去自环
· 有界传递闭包（最大 4 跳），判据 R1–R4 全过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模型判定层：把「正文提到」与「真引用」分开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双侧过滤后才敢说这是文件→文件引用图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424160" cy="731520"/>
          </a:xfrm>
          <a:prstGeom prst="round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01952"/>
            <a:ext cx="9966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候选 45,992 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1"/>
            <a:ext cx="9966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subject 14,058 + object 31,934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52344"/>
            <a:ext cx="7863840" cy="731520"/>
          </a:xfrm>
          <a:prstGeom prst="roundRect">
            <a:avLst/>
          </a:prstGeom>
          <a:solidFill>
            <a:srgbClr val="C5A1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871215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判为真文件 8,652 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91256"/>
            <a:ext cx="7406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subject 1,762（12.5%）· object 6,890（21.6%）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21608"/>
            <a:ext cx="5303520" cy="731520"/>
          </a:xfrm>
          <a:prstGeom prst="roundRect">
            <a:avLst/>
          </a:prstGeom>
          <a:solidFill>
            <a:srgbClr val="7A62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双侧都清 → 15,870 条边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160520"/>
            <a:ext cx="4846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8,532 个节点 · 文件图 1,661 节点 / 9,167 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846320"/>
            <a:ext cx="10881360" cy="18288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一处必须写明的修正：早期用「各 400 个候选」抽样得出「双侧都清 0 条边」，并据此推断「政务文件之间的引用链很稀疏」。
全量判定后发现那是抽样错在层 —— 400 个 subject 候选里只有 6 个是真文件。真实数字是 15,870 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换行业会怎样：零改码迁移（已实测）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政务 → 先进制造，四项指标全部达标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00200"/>
            <a:ext cx="2860060" cy="475488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50492"/>
            <a:ext cx="27320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3454420" y="1600200"/>
            <a:ext cx="1760037" cy="475488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18428" y="1650492"/>
            <a:ext cx="163202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4457" y="1600200"/>
            <a:ext cx="6380134" cy="475488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78465" y="1650492"/>
            <a:ext cx="625211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075688"/>
            <a:ext cx="2860060" cy="47548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25980"/>
            <a:ext cx="27320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L1 改动（MCP 服务）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54420" y="2075688"/>
            <a:ext cx="1760037" cy="47548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8428" y="2125980"/>
            <a:ext cx="163202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0 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4457" y="2075688"/>
            <a:ext cx="6380134" cy="47548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8465" y="2125980"/>
            <a:ext cx="625211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mcp/workbench-mcp-server.py 逐字节未变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01468"/>
            <a:ext cx="27320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L2 改动（Skill）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8428" y="2601468"/>
            <a:ext cx="163202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0 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78465" y="2601468"/>
            <a:ext cx="625211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skills/*/SKILL.md 逐字节未变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026664"/>
            <a:ext cx="2860060" cy="47548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76956"/>
            <a:ext cx="27320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L3 改动（本体）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54420" y="3026664"/>
            <a:ext cx="1760037" cy="47548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18428" y="3076956"/>
            <a:ext cx="163202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0 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14457" y="3026664"/>
            <a:ext cx="6380134" cy="47548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78465" y="3076956"/>
            <a:ext cx="625211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schema.json 与 build.py sha256 与基线一致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552444"/>
            <a:ext cx="27320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脚本复用率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18428" y="3552444"/>
            <a:ext cx="163202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5 /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78465" y="3552444"/>
            <a:ext cx="625211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生成 → 抽取 → 归并 → 推理 全链路复用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977639"/>
            <a:ext cx="2860060" cy="47548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4027931"/>
            <a:ext cx="2732044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迁移工时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54420" y="3977639"/>
            <a:ext cx="1760037" cy="47548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18428" y="4027931"/>
            <a:ext cx="1632021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约 8 分钟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4457" y="3977639"/>
            <a:ext cx="6380134" cy="47548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78465" y="4027931"/>
            <a:ext cx="625211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含合成语料编写；全链路执行 &lt; 1 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709160"/>
            <a:ext cx="1100023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关键读数：同一批 25 块语料只换词表 —— 制造词表抽出 50 条三元组，政务词表只抽 22 条（差 2.3 倍）。
结论：换行业必须换词表，而且只需要换词表。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11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能力沉淀：每条结论都能复跑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不是一次性 demo —— 判据与命令都在材料包里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72768"/>
            <a:ext cx="4400092" cy="384048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23060"/>
            <a:ext cx="42720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判据类别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4452" y="1572768"/>
            <a:ext cx="2640055" cy="384048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58460" y="1623060"/>
            <a:ext cx="25120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</p:txBody>
      </p:sp>
      <p:sp>
        <p:nvSpPr>
          <p:cNvPr id="9" name="Rectangle 8"/>
          <p:cNvSpPr/>
          <p:nvPr/>
        </p:nvSpPr>
        <p:spPr>
          <a:xfrm>
            <a:off x="7634508" y="1572768"/>
            <a:ext cx="3960083" cy="384048"/>
          </a:xfrm>
          <a:prstGeom prst="rect">
            <a:avLst/>
          </a:prstGeom>
          <a:solidFill>
            <a:srgbClr val="9B724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8516" y="1623060"/>
            <a:ext cx="3832067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复跑入口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956816"/>
            <a:ext cx="4400092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07108"/>
            <a:ext cx="42720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契约一致性（MCP ↔ Skill ↔ 文档）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4452" y="1956816"/>
            <a:ext cx="2640055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8460" y="2007108"/>
            <a:ext cx="25120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5 通过 / 0 失败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4508" y="1956816"/>
            <a:ext cx="3960083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8516" y="2007108"/>
            <a:ext cx="3832067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tools/check-contract-doc.py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391156"/>
            <a:ext cx="42720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契约负对照自测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8460" y="2391156"/>
            <a:ext cx="25120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6 /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8516" y="2391156"/>
            <a:ext cx="3832067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同上 --self-test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2724912"/>
            <a:ext cx="4400092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775204"/>
            <a:ext cx="42720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本体三层自测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94452" y="2724912"/>
            <a:ext cx="2640055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58460" y="2775204"/>
            <a:ext cx="25120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12/12 · 4/4 · 6/6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4508" y="2724912"/>
            <a:ext cx="3960083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8516" y="2775204"/>
            <a:ext cx="3832067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ontology/{build,align,prune}.py --self-test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159252"/>
            <a:ext cx="42720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语料链自测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8460" y="3159252"/>
            <a:ext cx="25120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5/5 · 5/5 · 5/5 · 3/3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8516" y="3159252"/>
            <a:ext cx="3832067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tools/corpus-clean|chunk|select-subset|import-corpus.py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493008"/>
            <a:ext cx="4400092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543300"/>
            <a:ext cx="42720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检索效果评测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94452" y="3493008"/>
            <a:ext cx="2640055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8460" y="3543300"/>
            <a:ext cx="25120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政务 10/10 · RFC 15/15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4508" y="3493008"/>
            <a:ext cx="3960083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8516" y="3543300"/>
            <a:ext cx="3832067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tools/eval-retrieval.py --domain gov|rfc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927348"/>
            <a:ext cx="42720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引用回查 MCP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58460" y="3927348"/>
            <a:ext cx="25120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96 条判据全过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8516" y="3927348"/>
            <a:ext cx="3832067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track2-mcp/tests/（见复核命令 X 段）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4261104"/>
            <a:ext cx="4400092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4311396"/>
            <a:ext cx="427207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全包完整性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94452" y="4261104"/>
            <a:ext cx="2640055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58460" y="4311396"/>
            <a:ext cx="2512039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全部 OK（可逐条复跑）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34508" y="4261104"/>
            <a:ext cx="3960083" cy="384048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98516" y="4311396"/>
            <a:ext cx="3832067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sha256sum -c MANIFEST.sha256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709160"/>
            <a:ext cx="1100023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复核命令.md 的 A–Y 段给出每条结论对应的单条命令与预期输出，评审可逐条验证。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12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6051"/>
            <a:ext cx="110029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诚实边界与下一步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73252"/>
            <a:ext cx="1100297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E675F"/>
                </a:solidFill>
                <a:latin typeface="微软雅黑"/>
                <a:ea typeface="微软雅黑"/>
                <a:cs typeface="微软雅黑"/>
              </a:rPr>
              <a:t>哪些还没做、为什么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7572"/>
            <a:ext cx="11002975" cy="13716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91640"/>
            <a:ext cx="82296" cy="82296"/>
          </a:xfrm>
          <a:prstGeom prst="rect">
            <a:avLst/>
          </a:prstGeom>
          <a:solidFill>
            <a:srgbClr val="9E4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1600200"/>
            <a:ext cx="512978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本材料为单人备赛产出：团队成员、指导教师、队名与报名编号尚未确定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624328"/>
            <a:ext cx="82296" cy="82296"/>
          </a:xfrm>
          <a:prstGeom prst="rect">
            <a:avLst/>
          </a:prstGeom>
          <a:solidFill>
            <a:srgbClr val="9E4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532888"/>
            <a:ext cx="512978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官方参数未确认：初赛确切截止日、晋级名额、是否强制华为技术栈、是否需 PPT/视频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557016"/>
            <a:ext cx="82296" cy="82296"/>
          </a:xfrm>
          <a:prstGeom prst="rect">
            <a:avLst/>
          </a:prstGeom>
          <a:solidFill>
            <a:srgbClr val="9E4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3465576"/>
            <a:ext cx="512978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先进制造语料通道断链：国标全文受版权、gov.cn 政策 API 匿名 0 结果、ModelScope 403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4489704"/>
            <a:ext cx="82296" cy="82296"/>
          </a:xfrm>
          <a:prstGeom prst="rect">
            <a:avLst/>
          </a:prstGeom>
          <a:solidFill>
            <a:srgbClr val="9E4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4398264"/>
            <a:ext cx="512978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迁移实测用的是合成语料 —— 验证的是机制，不是真实行业效果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691640"/>
            <a:ext cx="82296" cy="82296"/>
          </a:xfrm>
          <a:prstGeom prst="rect">
            <a:avLst/>
          </a:prstGeom>
          <a:solidFill>
            <a:srgbClr val="9E4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00200"/>
            <a:ext cx="512978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判定层用的是自备网关的外部模型，换模型结论可能变；强证据层 21,036 条自动入库，候选层 226,710 条零人工确认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2624328"/>
            <a:ext cx="82296" cy="82296"/>
          </a:xfrm>
          <a:prstGeom prst="rect">
            <a:avLst/>
          </a:prstGeom>
          <a:solidFill>
            <a:srgbClr val="9E4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2532888"/>
            <a:ext cx="512978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GPU 已落地到现役 embedding 服务（端到端 387 条/秒 = 26.9×；纯推理 635 条/秒 = 44×），但显存压力与多并发行为未测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557016"/>
            <a:ext cx="82296" cy="82296"/>
          </a:xfrm>
          <a:prstGeom prst="rect">
            <a:avLst/>
          </a:prstGeom>
          <a:solidFill>
            <a:srgbClr val="9E4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3465576"/>
            <a:ext cx="512978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示例 7 的原始长问题复现不稳定（两次失败），材料中使用的是简化提问版本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489704"/>
            <a:ext cx="82296" cy="82296"/>
          </a:xfrm>
          <a:prstGeom prst="rect">
            <a:avLst/>
          </a:prstGeom>
          <a:solidFill>
            <a:srgbClr val="9E4A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4398264"/>
            <a:ext cx="512978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080A08"/>
                </a:solidFill>
                <a:latin typeface="微软雅黑"/>
              </a:rPr>
              <a:t>知识库 10-27 发车、10-30 满库（ES 1,874,596 块 / chunks 1,864,451）；满库复跑已完成（20261030-1118，R MRR 0.8494→0.8711），A2 门控 M/X 双 FAIL、冠军维持 τ=0.8505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440680"/>
            <a:ext cx="11000232" cy="18288"/>
          </a:xfrm>
          <a:prstGeom prst="rect">
            <a:avLst/>
          </a:prstGeom>
          <a:solidFill>
            <a:srgbClr val="E6D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650992"/>
            <a:ext cx="110002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080A08"/>
                </a:solidFill>
                <a:latin typeface="微软雅黑"/>
                <a:ea typeface="微软雅黑"/>
                <a:cs typeface="微软雅黑"/>
              </a:rPr>
              <a:t>下一步：满库复跑刷新评测快照（replay 一键）→ 人工确认闸门入库 → 第二行业真实语料迁移。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13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80A08"/>
                </a:solidFill>
                <a:latin typeface="微软雅黑"/>
              </a:rPr>
              <a:t>开源与合规声明 / OPEN SOURCE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75F"/>
                </a:solidFill>
                <a:latin typeface="微软雅黑"/>
              </a:rPr>
              <a:t>全部组件许可可查 · 我方改动可审计 · 品牌标识全部原创重绘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09728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554480"/>
                <a:gridCol w="3291840"/>
                <a:gridCol w="3291840"/>
              </a:tblGrid>
              <a:tr h="4419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0A08"/>
                          </a:solidFill>
                          <a:latin typeface="微软雅黑"/>
                        </a:rPr>
                        <a:t>组件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0A08"/>
                          </a:solidFill>
                          <a:latin typeface="微软雅黑"/>
                        </a:rPr>
                        <a:t>许可证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0A08"/>
                          </a:solidFill>
                          <a:latin typeface="微软雅黑"/>
                        </a:rPr>
                        <a:t>用途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80A08"/>
                          </a:solidFill>
                          <a:latin typeface="微软雅黑"/>
                        </a:rPr>
                        <a:t>我方改动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Nexent 平台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E675F"/>
                          </a:solidFill>
                          <a:latin typeface="微软雅黑"/>
                        </a:rPr>
                        <a:t>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智能体底座（检索/索引/编排）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治理技能接入、评测门控对接；LOGO 与版权信息原样保留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RhineLabUI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E675F"/>
                          </a:solidFill>
                          <a:latin typeface="微软雅黑"/>
                        </a:rPr>
                        <a:t>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治理档案馆前端骨架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全量品牌换血（文字/字画/徽记重绘）、数据源接自有服务、画质策略调整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语料数据集（757,810 条）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E675F"/>
                          </a:solidFill>
                          <a:latin typeface="微软雅黑"/>
                        </a:rPr>
                        <a:t>Apache-2.0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检索语料库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清洗、分块、索引；保留来源与许可声明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MiSans 字体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E675F"/>
                          </a:solidFill>
                          <a:latin typeface="微软雅黑"/>
                        </a:rPr>
                        <a:t>免费商用许可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界面正文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无修改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设计方法论参考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6E675F"/>
                          </a:solidFill>
                          <a:latin typeface="微软雅黑"/>
                        </a:rPr>
                        <a:t>—（方法论不受版权保护）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DESIGN.md 工作流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080A08"/>
                          </a:solidFill>
                          <a:latin typeface="微软雅黑"/>
                        </a:rPr>
                        <a:t>仅借鉴方法，未复制内容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160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B7247"/>
                </a:solidFill>
                <a:latin typeface="微软雅黑"/>
              </a:rPr>
              <a:t>自主贡献（核心资产均为原创）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080A08"/>
                </a:solidFill>
                <a:latin typeface="微软雅黑"/>
              </a:rPr>
              <a:t>· 五层冻结基准：R/M/X/C/G 五层评测（R hit@10 1.00 · MRR 0.8494 · M 24/25 · C/G 25/25），118/118 测试通过</a:t>
            </a:r>
          </a:p>
          <a:p>
            <a:r>
              <a:rPr sz="1050" b="0">
                <a:solidFill>
                  <a:srgbClr val="080A08"/>
                </a:solidFill>
                <a:latin typeface="微软雅黑"/>
              </a:rPr>
              <a:t>· 治理账本：10 条上链决策记录，配对门控消融（A2）自动裁决：M/X FAIL → 冠军维持 τ=0.8505，不虚报 promote</a:t>
            </a:r>
          </a:p>
          <a:p>
            <a:r>
              <a:rPr sz="1050" b="0">
                <a:solidFill>
                  <a:srgbClr val="080A08"/>
                </a:solidFill>
                <a:latin typeface="微软雅黑"/>
              </a:rPr>
              <a:t>· 满库自洽链：断点续跑导入 → 冷却 → 全量重放（20261030-1118，MRR 0.8494→0.8711）→ 门控落账，无人值守</a:t>
            </a:r>
          </a:p>
          <a:p>
            <a:r>
              <a:rPr sz="1050" b="0">
                <a:solidFill>
                  <a:srgbClr val="080A08"/>
                </a:solidFill>
                <a:latin typeface="微软雅黑"/>
              </a:rPr>
              <a:t>· 档案馆换血工艺：字形级品牌重建（单字母矢量画稿库），零第三方 IP 残留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23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9B7247"/>
                </a:solidFill>
                <a:latin typeface="微软雅黑"/>
              </a:rPr>
              <a:t>合规红线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E675F"/>
                </a:solidFill>
                <a:latin typeface="微软雅黑"/>
              </a:rPr>
              <a:t>· 不使用任何第三方未授权美术资产、商标或角色形象 · AGPL 项目仅借鉴交互机制思路，未复制任何源码</a:t>
            </a:r>
          </a:p>
          <a:p>
            <a:r>
              <a:rPr sz="950" b="0">
                <a:solidFill>
                  <a:srgbClr val="6E675F"/>
                </a:solidFill>
                <a:latin typeface="微软雅黑"/>
              </a:rPr>
              <a:t>· Apache-2.0 语料的署名与 NOTICE 义务已履行 · 引用的学术结论均可现场复跑脚本验证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75F"/>
                </a:solidFill>
                <a:latin typeface="微软雅黑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80A08"/>
      </a:dk2>
      <a:lt2>
        <a:srgbClr val="EFEDE9"/>
      </a:lt2>
      <a:accent1>
        <a:srgbClr val="9B7247"/>
      </a:accent1>
      <a:accent2>
        <a:srgbClr val="9E4A2B"/>
      </a:accent2>
      <a:accent3>
        <a:srgbClr val="7A6238"/>
      </a:accent3>
      <a:accent4>
        <a:srgbClr val="8A6234"/>
      </a:accent4>
      <a:accent5>
        <a:srgbClr val="C5A16B"/>
      </a:accent5>
      <a:accent6>
        <a:srgbClr val="9B7247"/>
      </a:accent6>
      <a:hlink>
        <a:srgbClr val="8A6234"/>
      </a:hlink>
      <a:folHlink>
        <a:srgbClr val="7A623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